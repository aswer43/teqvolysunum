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60" r:id="rId5"/>
    <p:sldId id="262" r:id="rId6"/>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32779F-2D07-4AF4-A817-7C724D52ADF8}" v="495" dt="2026-02-07T12:17:29.690"/>
    <p1510:client id="{61349E03-2E2B-46C0-92D1-F88ABC20108B}" v="2" dt="2026-02-08T16:06:31.621"/>
    <p1510:client id="{71C84C02-1086-4DA6-9507-CCB7DB1BE62C}" v="51" dt="2026-02-07T13:33:02.876"/>
    <p1510:client id="{8248E496-971C-44FB-99A1-3A13EA95F10D}" v="110" dt="2026-02-07T14:08:36.667"/>
    <p1510:client id="{98CC399B-42C6-42E4-A3EE-79B64FC87052}" v="18" dt="2026-02-07T14:35:43.268"/>
    <p1510:client id="{AF297583-7BD0-4F85-B9DA-B855171A7FCD}" v="6" dt="2026-02-07T18:50:45.862"/>
    <p1510:client id="{DD1C61F0-B246-43B1-99E5-7DEAEB880078}" v="8" dt="2026-02-07T18:48:53.7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5" autoAdjust="0"/>
    <p:restoredTop sz="94660"/>
  </p:normalViewPr>
  <p:slideViewPr>
    <p:cSldViewPr snapToGrid="0">
      <p:cViewPr varScale="1">
        <p:scale>
          <a:sx n="86" d="100"/>
          <a:sy n="86" d="100"/>
        </p:scale>
        <p:origin x="66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8.02.2026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440994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8.02.2026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944319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8.02.2026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1196833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838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172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E2072480-10DA-4FB4-BEAE-2A1DEA90F248}" type="datetimeFigureOut">
              <a:rPr lang="tr-TR" smtClean="0"/>
              <a:t>8.02.2026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652797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E2072480-10DA-4FB4-BEAE-2A1DEA90F248}" type="datetimeFigureOut">
              <a:rPr lang="tr-TR" smtClean="0"/>
              <a:t>8.02.2026</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6744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E2072480-10DA-4FB4-BEAE-2A1DEA90F248}" type="datetimeFigureOut">
              <a:rPr lang="tr-TR" smtClean="0"/>
              <a:t>8.02.2026</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861482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E2072480-10DA-4FB4-BEAE-2A1DEA90F248}" type="datetimeFigureOut">
              <a:rPr lang="tr-TR" smtClean="0"/>
              <a:t>8.02.2026</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4199817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8.02.2026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70091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8.02.2026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18175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8.02.2026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7874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8.02.2026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04856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072480-10DA-4FB4-BEAE-2A1DEA90F248}" type="datetimeFigureOut">
              <a:rPr lang="tr-TR" smtClean="0"/>
              <a:t>8.02.2026</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0A84BC-3F9E-4B08-9743-FC4E27FA5126}" type="slidenum">
              <a:rPr lang="tr-TR" smtClean="0"/>
              <a:t>‹#›</a:t>
            </a:fld>
            <a:endParaRPr lang="tr-TR"/>
          </a:p>
        </p:txBody>
      </p:sp>
    </p:spTree>
    <p:extLst>
      <p:ext uri="{BB962C8B-B14F-4D97-AF65-F5344CB8AC3E}">
        <p14:creationId xmlns:p14="http://schemas.microsoft.com/office/powerpoint/2010/main" val="3712468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ranslate.google.com/website?sl=en&amp;tl=tr&amp;hl=tr&amp;client=srp&amp;u=https://hu.wikipedia.org/wiki/Bors%25C3%25A1nyi_G%25C3%25A1bor" TargetMode="External"/><Relationship Id="rId2" Type="http://schemas.openxmlformats.org/officeDocument/2006/relationships/hyperlink" Target="https://en-wikipedia-org.translate.goog/wiki/Hungary?_x_tr_sl=en&amp;_x_tr_tl=tr&amp;_x_tr_hl=tr&amp;_x_tr_pto=tc" TargetMode="External"/><Relationship Id="rId1" Type="http://schemas.openxmlformats.org/officeDocument/2006/relationships/slideLayout" Target="../slideLayouts/slideLayout2.xml"/><Relationship Id="rId6" Type="http://schemas.openxmlformats.org/officeDocument/2006/relationships/hyperlink" Target="https://en-wikipedia-org.translate.goog/wiki/Teqball?_x_tr_sl=en&amp;_x_tr_tl=tr&amp;_x_tr_hl=tr&amp;_x_tr_pto=tc#cite_note-SportTechie_1-6" TargetMode="External"/><Relationship Id="rId5" Type="http://schemas.openxmlformats.org/officeDocument/2006/relationships/hyperlink" Target="https://en-wikipedia-org.translate.goog/wiki/Viktor_Husz%C3%A1r?_x_tr_sl=en&amp;_x_tr_tl=tr&amp;_x_tr_hl=tr&amp;_x_tr_pto=tc" TargetMode="External"/><Relationship Id="rId4" Type="http://schemas.openxmlformats.org/officeDocument/2006/relationships/hyperlink" Target="https://en-wikipedia-org.translate.goog/wiki/Gy%C3%B6rgy_Gatty%C3%A1n?_x_tr_sl=en&amp;_x_tr_tl=tr&amp;_x_tr_hl=tr&amp;_x_tr_pto=tc"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hyperlink" Target="https://en-wikipedia-org.translate.goog/wiki/Table_tennis?_x_tr_sl=en&amp;_x_tr_tl=tr&amp;_x_tr_hl=tr&amp;_x_tr_pto=tc" TargetMode="External"/><Relationship Id="rId7" Type="http://schemas.openxmlformats.org/officeDocument/2006/relationships/hyperlink" Target="https://en-wikipedia-org.translate.goog/wiki/2023_European_Games?_x_tr_sl=en&amp;_x_tr_tl=tr&amp;_x_tr_hl=tr&amp;_x_tr_pto=tc" TargetMode="External"/><Relationship Id="rId2" Type="http://schemas.openxmlformats.org/officeDocument/2006/relationships/hyperlink" Target="https://en-wikipedia-org.translate.goog/wiki/Football?_x_tr_sl=en&amp;_x_tr_tl=tr&amp;_x_tr_hl=tr&amp;_x_tr_pto=tc" TargetMode="External"/><Relationship Id="rId1" Type="http://schemas.openxmlformats.org/officeDocument/2006/relationships/slideLayout" Target="../slideLayouts/slideLayout2.xml"/><Relationship Id="rId6" Type="http://schemas.openxmlformats.org/officeDocument/2006/relationships/hyperlink" Target="https://en-wikipedia-org.translate.goog/wiki/Footballers?_x_tr_sl=en&amp;_x_tr_tl=tr&amp;_x_tr_hl=tr&amp;_x_tr_pto=tc" TargetMode="External"/><Relationship Id="rId5" Type="http://schemas.openxmlformats.org/officeDocument/2006/relationships/hyperlink" Target="https://en-wikipedia-org.translate.goog/wiki/Ball_(association_football)?_x_tr_sl=en&amp;_x_tr_tl=tr&amp;_x_tr_hl=tr&amp;_x_tr_pto=tc" TargetMode="External"/><Relationship Id="rId4" Type="http://schemas.openxmlformats.org/officeDocument/2006/relationships/hyperlink" Target="https://en-wikipedia-org.translate.goog/wiki/Ball_sport?_x_tr_sl=en&amp;_x_tr_tl=tr&amp;_x_tr_hl=tr&amp;_x_tr_pto=tc"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translate.goog/wiki/Ball_(association_football)?_x_tr_sl=en&amp;_x_tr_tl=tr&amp;_x_tr_hl=tr&amp;_x_tr_pto=tc"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en-wikipedia-org.translate.goog/wiki/FITEQ?_x_tr_sl=en&amp;_x_tr_tl=tr&amp;_x_tr_hl=tr&amp;_x_tr_pto=tc#2019_Teqball_World_Championships" TargetMode="External"/><Relationship Id="rId13" Type="http://schemas.openxmlformats.org/officeDocument/2006/relationships/hyperlink" Target="https://en-wikipedia-org.translate.goog/wiki/Thailand?_x_tr_sl=en&amp;_x_tr_tl=tr&amp;_x_tr_hl=tr&amp;_x_tr_pto=tc" TargetMode="External"/><Relationship Id="rId3" Type="http://schemas.openxmlformats.org/officeDocument/2006/relationships/image" Target="../media/image6.svg"/><Relationship Id="rId7" Type="http://schemas.openxmlformats.org/officeDocument/2006/relationships/hyperlink" Target="https://en-wikipedia-org.translate.goog/wiki/Teqball?_x_tr_sl=en&amp;_x_tr_tl=tr&amp;_x_tr_hl=tr&amp;_x_tr_pto=tc#cite_note-Fiteq_1-15" TargetMode="External"/><Relationship Id="rId12" Type="http://schemas.openxmlformats.org/officeDocument/2006/relationships/hyperlink" Target="https://en-wikipedia-org.translate.goog/wiki/Teqball?_x_tr_sl=en&amp;_x_tr_tl=tr&amp;_x_tr_hl=tr&amp;_x_tr_pto=tc#cite_note-Fiteq_4-18" TargetMode="Externa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hyperlink" Target="https://en-wikipedia-org.translate.goog/wiki/Reims?_x_tr_sl=en&amp;_x_tr_tl=tr&amp;_x_tr_hl=tr&amp;_x_tr_pto=tc" TargetMode="External"/><Relationship Id="rId11" Type="http://schemas.openxmlformats.org/officeDocument/2006/relationships/hyperlink" Target="https://en-wikipedia-org.translate.goog/wiki/COVID-19_pandemic?_x_tr_sl=en&amp;_x_tr_tl=tr&amp;_x_tr_hl=tr&amp;_x_tr_pto=tc" TargetMode="External"/><Relationship Id="rId5" Type="http://schemas.openxmlformats.org/officeDocument/2006/relationships/hyperlink" Target="https://en-wikipedia-org.translate.goog/wiki/Budapest?_x_tr_sl=en&amp;_x_tr_tl=tr&amp;_x_tr_hl=tr&amp;_x_tr_pto=tc" TargetMode="External"/><Relationship Id="rId10" Type="http://schemas.openxmlformats.org/officeDocument/2006/relationships/hyperlink" Target="https://en-wikipedia-org.translate.goog/wiki/Teqball?_x_tr_sl=en&amp;_x_tr_tl=tr&amp;_x_tr_hl=tr&amp;_x_tr_pto=tc#cite_note-17" TargetMode="External"/><Relationship Id="rId4" Type="http://schemas.openxmlformats.org/officeDocument/2006/relationships/hyperlink" Target="https://en-wikipedia-org.translate.goog/wiki/Teqball_World_Championships?_x_tr_sl=en&amp;_x_tr_tl=tr&amp;_x_tr_hl=tr&amp;_x_tr_pto=tc" TargetMode="External"/><Relationship Id="rId9" Type="http://schemas.openxmlformats.org/officeDocument/2006/relationships/hyperlink" Target="https://en-wikipedia-org.translate.goog/wiki/Teqball?_x_tr_sl=en&amp;_x_tr_tl=tr&amp;_x_tr_hl=tr&amp;_x_tr_pto=tc#cite_note-Fiteq_3-1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EF7A3E04-79DB-83F3-ADFF-B47A313DB01B}"/>
              </a:ext>
            </a:extLst>
          </p:cNvPr>
          <p:cNvSpPr>
            <a:spLocks noGrp="1"/>
          </p:cNvSpPr>
          <p:nvPr>
            <p:ph type="title"/>
          </p:nvPr>
        </p:nvSpPr>
        <p:spPr>
          <a:xfrm>
            <a:off x="640080" y="1243013"/>
            <a:ext cx="3855720" cy="4371974"/>
          </a:xfrm>
        </p:spPr>
        <p:txBody>
          <a:bodyPr>
            <a:normAutofit/>
          </a:bodyPr>
          <a:lstStyle/>
          <a:p>
            <a:r>
              <a:rPr lang="tr-TR" sz="3600">
                <a:solidFill>
                  <a:schemeClr val="tx2"/>
                </a:solidFill>
                <a:latin typeface="Angsana New"/>
                <a:cs typeface="Angsana New"/>
              </a:rPr>
              <a:t>Teqvoly Tarihi</a:t>
            </a:r>
          </a:p>
        </p:txBody>
      </p:sp>
      <p:sp>
        <p:nvSpPr>
          <p:cNvPr id="3" name="İçerik Yer Tutucusu 2">
            <a:extLst>
              <a:ext uri="{FF2B5EF4-FFF2-40B4-BE49-F238E27FC236}">
                <a16:creationId xmlns:a16="http://schemas.microsoft.com/office/drawing/2014/main" id="{D32D6407-5EDC-A046-A437-438FCFE92E42}"/>
              </a:ext>
            </a:extLst>
          </p:cNvPr>
          <p:cNvSpPr>
            <a:spLocks noGrp="1"/>
          </p:cNvSpPr>
          <p:nvPr>
            <p:ph idx="1"/>
          </p:nvPr>
        </p:nvSpPr>
        <p:spPr>
          <a:xfrm>
            <a:off x="6172200" y="804672"/>
            <a:ext cx="5221224" cy="5230368"/>
          </a:xfrm>
        </p:spPr>
        <p:txBody>
          <a:bodyPr vert="horz" lIns="91440" tIns="45720" rIns="91440" bIns="45720" rtlCol="0" anchor="ctr">
            <a:normAutofit/>
          </a:bodyPr>
          <a:lstStyle/>
          <a:p>
            <a:r>
              <a:rPr lang="tr-TR" sz="1800">
                <a:solidFill>
                  <a:schemeClr val="tx2"/>
                </a:solidFill>
                <a:latin typeface="Angsana New"/>
                <a:ea typeface="+mn-lt"/>
                <a:cs typeface="+mn-lt"/>
                <a:hlinkClick r:id="rId2"/>
              </a:rPr>
              <a:t>Teqvoly, 2014 yılında Macaristan'da</a:t>
            </a:r>
            <a:r>
              <a:rPr lang="tr-TR" sz="1800">
                <a:solidFill>
                  <a:schemeClr val="tx2"/>
                </a:solidFill>
                <a:latin typeface="Angsana New"/>
                <a:ea typeface="+mn-lt"/>
                <a:cs typeface="+mn-lt"/>
              </a:rPr>
              <a:t> üç futbol tutkunu tarafından icat edildi : eski profesyonel oyuncu </a:t>
            </a:r>
            <a:r>
              <a:rPr lang="tr-TR" sz="1800">
                <a:solidFill>
                  <a:schemeClr val="tx2"/>
                </a:solidFill>
                <a:latin typeface="Angsana New"/>
                <a:ea typeface="+mn-lt"/>
                <a:cs typeface="+mn-lt"/>
                <a:hlinkClick r:id="rId3"/>
              </a:rPr>
              <a:t>Gábor Borsányi</a:t>
            </a:r>
            <a:r>
              <a:rPr lang="tr-TR" sz="1800">
                <a:solidFill>
                  <a:schemeClr val="tx2"/>
                </a:solidFill>
                <a:latin typeface="Angsana New"/>
                <a:ea typeface="+mn-lt"/>
                <a:cs typeface="+mn-lt"/>
              </a:rPr>
              <a:t> , seks endüstrisi ve siyasi girişimci </a:t>
            </a:r>
            <a:r>
              <a:rPr lang="tr-TR" sz="1800">
                <a:solidFill>
                  <a:schemeClr val="tx2"/>
                </a:solidFill>
                <a:latin typeface="Angsana New"/>
                <a:ea typeface="+mn-lt"/>
                <a:cs typeface="+mn-lt"/>
                <a:hlinkClick r:id="rId4"/>
              </a:rPr>
              <a:t>György Gattyán</a:t>
            </a:r>
            <a:r>
              <a:rPr lang="tr-TR" sz="1800">
                <a:solidFill>
                  <a:schemeClr val="tx2"/>
                </a:solidFill>
                <a:latin typeface="Angsana New"/>
                <a:ea typeface="+mn-lt"/>
                <a:cs typeface="+mn-lt"/>
              </a:rPr>
              <a:t> ve bilgisayar bilimcisi </a:t>
            </a:r>
            <a:r>
              <a:rPr lang="tr-TR" sz="1800">
                <a:solidFill>
                  <a:schemeClr val="tx2"/>
                </a:solidFill>
                <a:latin typeface="Angsana New"/>
                <a:ea typeface="+mn-lt"/>
                <a:cs typeface="+mn-lt"/>
                <a:hlinkClick r:id="rId5"/>
              </a:rPr>
              <a:t>Viktor Huszár</a:t>
            </a:r>
            <a:r>
              <a:rPr lang="tr-TR" sz="1800">
                <a:solidFill>
                  <a:schemeClr val="tx2"/>
                </a:solidFill>
                <a:latin typeface="Angsana New"/>
                <a:ea typeface="+mn-lt"/>
                <a:cs typeface="+mn-lt"/>
              </a:rPr>
              <a:t> . </a:t>
            </a:r>
            <a:r>
              <a:rPr lang="tr-TR" sz="1800" baseline="30000">
                <a:solidFill>
                  <a:schemeClr val="tx2"/>
                </a:solidFill>
                <a:latin typeface="Angsana New"/>
                <a:ea typeface="+mn-lt"/>
                <a:cs typeface="+mn-lt"/>
                <a:hlinkClick r:id="rId6"/>
              </a:rPr>
              <a:t>[ 6 ] [ 7 ]</a:t>
            </a:r>
            <a:r>
              <a:rPr lang="tr-TR" sz="1800">
                <a:solidFill>
                  <a:schemeClr val="tx2"/>
                </a:solidFill>
                <a:latin typeface="Angsana New"/>
                <a:ea typeface="+mn-lt"/>
                <a:cs typeface="+mn-lt"/>
              </a:rPr>
              <a:t> Yaratıcı fikir, masa tenisi masasında futbol oynayan Borsányi'den geldi. Masanın yatay tasarımı, topun genellikle oyunculara sekmemesine neden oluyordu, bu yüzden bu oyun keyifli değildi. Borsányi, masanın bükülmesi durumunda, kavisli yüzeyin topun ayağa sekmesine yardımcı olabileceğini düşündü. Huszár ile birkaç yıllık geliştirmenin ardından, ilk teqvoly masası 2014 yılında üretildi. </a:t>
            </a:r>
            <a:endParaRPr lang="tr-TR" sz="1800">
              <a:solidFill>
                <a:schemeClr val="tx2"/>
              </a:solidFill>
              <a:latin typeface="Angsana New"/>
            </a:endParaRPr>
          </a:p>
        </p:txBody>
      </p:sp>
    </p:spTree>
    <p:extLst>
      <p:ext uri="{BB962C8B-B14F-4D97-AF65-F5344CB8AC3E}">
        <p14:creationId xmlns:p14="http://schemas.microsoft.com/office/powerpoint/2010/main" val="3246845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CC83B75-4597-D7EF-7971-4471FC99EF3F}"/>
              </a:ext>
            </a:extLst>
          </p:cNvPr>
          <p:cNvSpPr>
            <a:spLocks noGrp="1"/>
          </p:cNvSpPr>
          <p:nvPr>
            <p:ph type="title"/>
          </p:nvPr>
        </p:nvSpPr>
        <p:spPr>
          <a:xfrm>
            <a:off x="838201" y="365125"/>
            <a:ext cx="5251316" cy="1807305"/>
          </a:xfrm>
        </p:spPr>
        <p:txBody>
          <a:bodyPr>
            <a:normAutofit/>
          </a:bodyPr>
          <a:lstStyle/>
          <a:p>
            <a:r>
              <a:rPr lang="tr-TR" dirty="0" err="1">
                <a:latin typeface="Angsana New"/>
                <a:cs typeface="Angsana New"/>
              </a:rPr>
              <a:t>Teqvoly</a:t>
            </a:r>
            <a:r>
              <a:rPr lang="tr-TR" dirty="0">
                <a:latin typeface="Angsana New"/>
                <a:cs typeface="Angsana New"/>
              </a:rPr>
              <a:t> Nedir? Nasıl Oynanır?</a:t>
            </a:r>
          </a:p>
        </p:txBody>
      </p:sp>
      <p:sp>
        <p:nvSpPr>
          <p:cNvPr id="3" name="İçerik Yer Tutucusu 2">
            <a:extLst>
              <a:ext uri="{FF2B5EF4-FFF2-40B4-BE49-F238E27FC236}">
                <a16:creationId xmlns:a16="http://schemas.microsoft.com/office/drawing/2014/main" id="{7311EC3B-B29A-3555-D0E4-D41D187B31CE}"/>
              </a:ext>
            </a:extLst>
          </p:cNvPr>
          <p:cNvSpPr>
            <a:spLocks noGrp="1"/>
          </p:cNvSpPr>
          <p:nvPr>
            <p:ph idx="1"/>
          </p:nvPr>
        </p:nvSpPr>
        <p:spPr>
          <a:xfrm>
            <a:off x="838200" y="2333297"/>
            <a:ext cx="4619621" cy="3843666"/>
          </a:xfrm>
        </p:spPr>
        <p:txBody>
          <a:bodyPr vert="horz" lIns="91440" tIns="45720" rIns="91440" bIns="45720" rtlCol="0">
            <a:normAutofit/>
          </a:bodyPr>
          <a:lstStyle/>
          <a:p>
            <a:r>
              <a:rPr lang="tr-TR" sz="1700">
                <a:latin typeface="Book Antiqua"/>
              </a:rPr>
              <a:t>Teqvoly, </a:t>
            </a:r>
            <a:r>
              <a:rPr lang="tr-TR" sz="1700">
                <a:latin typeface="Book Antiqua"/>
                <a:hlinkClick r:id="rId2">
                  <a:extLst>
                    <a:ext uri="{A12FA001-AC4F-418D-AE19-62706E023703}">
                      <ahyp:hlinkClr xmlns:ahyp="http://schemas.microsoft.com/office/drawing/2018/hyperlinkcolor" val="tx"/>
                    </a:ext>
                  </a:extLst>
                </a:hlinkClick>
              </a:rPr>
              <a:t>futbol</a:t>
            </a:r>
            <a:r>
              <a:rPr lang="tr-TR" sz="1700">
                <a:latin typeface="Book Antiqua"/>
              </a:rPr>
              <a:t> ve </a:t>
            </a:r>
            <a:r>
              <a:rPr lang="tr-TR" sz="1700">
                <a:latin typeface="Book Antiqua"/>
                <a:hlinkClick r:id="rId3">
                  <a:extLst>
                    <a:ext uri="{A12FA001-AC4F-418D-AE19-62706E023703}">
                      <ahyp:hlinkClr xmlns:ahyp="http://schemas.microsoft.com/office/drawing/2018/hyperlinkcolor" val="tx"/>
                    </a:ext>
                  </a:extLst>
                </a:hlinkClick>
              </a:rPr>
              <a:t>masa tenisi</a:t>
            </a:r>
            <a:r>
              <a:rPr lang="tr-TR" sz="1700">
                <a:latin typeface="Book Antiqua"/>
              </a:rPr>
              <a:t> unsurlarını birletiren, kavisli bir masa üzerinde oynanan bir </a:t>
            </a:r>
            <a:r>
              <a:rPr lang="tr-TR" sz="1700">
                <a:latin typeface="Book Antiqua"/>
                <a:hlinkClick r:id="rId4">
                  <a:extLst>
                    <a:ext uri="{A12FA001-AC4F-418D-AE19-62706E023703}">
                      <ahyp:hlinkClr xmlns:ahyp="http://schemas.microsoft.com/office/drawing/2018/hyperlinkcolor" val="tx"/>
                    </a:ext>
                  </a:extLst>
                </a:hlinkClick>
              </a:rPr>
              <a:t>top sporudur</a:t>
            </a:r>
            <a:r>
              <a:rPr lang="tr-TR" sz="1700">
                <a:latin typeface="Book Antiqua"/>
              </a:rPr>
              <a:t> . Oyuncular, kollar ve eller hariç vücutlarının herhangi bir bölümüyle </a:t>
            </a:r>
            <a:r>
              <a:rPr lang="tr-TR" sz="1700">
                <a:latin typeface="Book Antiqua"/>
                <a:hlinkClick r:id="rId5">
                  <a:extLst>
                    <a:ext uri="{A12FA001-AC4F-418D-AE19-62706E023703}">
                      <ahyp:hlinkClr xmlns:ahyp="http://schemas.microsoft.com/office/drawing/2018/hyperlinkcolor" val="tx"/>
                    </a:ext>
                  </a:extLst>
                </a:hlinkClick>
              </a:rPr>
              <a:t>topa karşılıklı vururlar. Teqvoly, tekler oyunu olarak iki oyuncu arasında veya çiftler oyunu olarak dört oyuncu arasında oynanabilir. Oyun, uluslararası düzeyde Uluslararası Teqball Federasyonu</a:t>
            </a:r>
            <a:r>
              <a:rPr lang="tr-TR" sz="1700">
                <a:latin typeface="Book Antiqua"/>
              </a:rPr>
              <a:t> (FITEQ) tarafından temsil edilmektedir. Birçok dünya çapında </a:t>
            </a:r>
            <a:r>
              <a:rPr lang="tr-TR" sz="1700">
                <a:latin typeface="Book Antiqua"/>
                <a:hlinkClick r:id="rId6">
                  <a:extLst>
                    <a:ext uri="{A12FA001-AC4F-418D-AE19-62706E023703}">
                      <ahyp:hlinkClr xmlns:ahyp="http://schemas.microsoft.com/office/drawing/2018/hyperlinkcolor" val="tx"/>
                    </a:ext>
                  </a:extLst>
                </a:hlinkClick>
              </a:rPr>
              <a:t>futbolcu bu oyuna ilgi duymuş ve 2021 Asya Plaj Oyunları</a:t>
            </a:r>
            <a:r>
              <a:rPr lang="tr-TR" sz="1700">
                <a:latin typeface="Book Antiqua"/>
              </a:rPr>
              <a:t> ve </a:t>
            </a:r>
            <a:r>
              <a:rPr lang="tr-TR" sz="1700">
                <a:latin typeface="Book Antiqua"/>
                <a:hlinkClick r:id="rId7">
                  <a:extLst>
                    <a:ext uri="{A12FA001-AC4F-418D-AE19-62706E023703}">
                      <ahyp:hlinkClr xmlns:ahyp="http://schemas.microsoft.com/office/drawing/2018/hyperlinkcolor" val="tx"/>
                    </a:ext>
                  </a:extLst>
                </a:hlinkClick>
              </a:rPr>
              <a:t>2023 Avrupa Oyunları</a:t>
            </a:r>
            <a:r>
              <a:rPr lang="tr-TR" sz="1700">
                <a:latin typeface="Book Antiqua"/>
              </a:rPr>
              <a:t> programlarına eklendikten sonra , spor artık Olimpiyatlara dahil edilmeyi hedeflemektedir.</a:t>
            </a:r>
            <a:endParaRPr lang="tr-TR" sz="1700"/>
          </a:p>
        </p:txBody>
      </p:sp>
      <p:pic>
        <p:nvPicPr>
          <p:cNvPr id="4" name="Resim 3" descr="kişi, şahıs, iç mekan, buz pateni sporu, idman yeri içeren bir resim&#10;&#10;Yapay zeka tarafından oluşturulmuş içerik yanlış olabilir.">
            <a:extLst>
              <a:ext uri="{FF2B5EF4-FFF2-40B4-BE49-F238E27FC236}">
                <a16:creationId xmlns:a16="http://schemas.microsoft.com/office/drawing/2014/main" id="{E51E62F9-72A2-8B50-788D-DB41304CCE55}"/>
              </a:ext>
            </a:extLst>
          </p:cNvPr>
          <p:cNvPicPr>
            <a:picLocks noChangeAspect="1"/>
          </p:cNvPicPr>
          <p:nvPr/>
        </p:nvPicPr>
        <p:blipFill>
          <a:blip r:embed="rId8"/>
          <a:srcRect l="18830" r="23132"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152993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5AC1364A-3E3D-4F0D-8776-78AF3A270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53EE006-9A02-235F-DA9B-0BA9397B59FC}"/>
              </a:ext>
            </a:extLst>
          </p:cNvPr>
          <p:cNvSpPr>
            <a:spLocks noGrp="1"/>
          </p:cNvSpPr>
          <p:nvPr>
            <p:ph type="title"/>
          </p:nvPr>
        </p:nvSpPr>
        <p:spPr>
          <a:xfrm>
            <a:off x="4797501" y="329184"/>
            <a:ext cx="6755626" cy="1783080"/>
          </a:xfrm>
        </p:spPr>
        <p:txBody>
          <a:bodyPr anchor="b">
            <a:normAutofit/>
          </a:bodyPr>
          <a:lstStyle/>
          <a:p>
            <a:r>
              <a:rPr lang="tr-TR" sz="5400">
                <a:latin typeface="Angsana New"/>
                <a:cs typeface="Angsana New"/>
              </a:rPr>
              <a:t>Teqvoly Sahası</a:t>
            </a:r>
          </a:p>
        </p:txBody>
      </p:sp>
      <p:pic>
        <p:nvPicPr>
          <p:cNvPr id="4" name="Resim 3" descr="metin, ekran görüntüsü, mobil telefon, akıllı telefon içeren bir resim&#10;&#10;Yapay zeka tarafından oluşturulmuş içerik yanlış olabilir.">
            <a:extLst>
              <a:ext uri="{FF2B5EF4-FFF2-40B4-BE49-F238E27FC236}">
                <a16:creationId xmlns:a16="http://schemas.microsoft.com/office/drawing/2014/main" id="{71CE2057-C5F0-AD92-C224-2761D010374D}"/>
              </a:ext>
            </a:extLst>
          </p:cNvPr>
          <p:cNvPicPr>
            <a:picLocks noChangeAspect="1"/>
          </p:cNvPicPr>
          <p:nvPr/>
        </p:nvPicPr>
        <p:blipFill>
          <a:blip r:embed="rId2"/>
          <a:stretch>
            <a:fillRect/>
          </a:stretch>
        </p:blipFill>
        <p:spPr>
          <a:xfrm>
            <a:off x="856937" y="0"/>
            <a:ext cx="2940421" cy="3907536"/>
          </a:xfrm>
          <a:prstGeom prst="rect">
            <a:avLst/>
          </a:prstGeom>
        </p:spPr>
      </p:pic>
      <p:sp>
        <p:nvSpPr>
          <p:cNvPr id="27"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7494"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Resim 4" descr="mobilya, masa, tasarım içeren bir resim&#10;&#10;Yapay zeka tarafından oluşturulmuş içerik yanlış olabilir.">
            <a:extLst>
              <a:ext uri="{FF2B5EF4-FFF2-40B4-BE49-F238E27FC236}">
                <a16:creationId xmlns:a16="http://schemas.microsoft.com/office/drawing/2014/main" id="{D79978F5-DEAB-EE78-2795-08E72B065E5E}"/>
              </a:ext>
            </a:extLst>
          </p:cNvPr>
          <p:cNvPicPr>
            <a:picLocks noChangeAspect="1"/>
          </p:cNvPicPr>
          <p:nvPr/>
        </p:nvPicPr>
        <p:blipFill>
          <a:blip r:embed="rId3"/>
          <a:stretch>
            <a:fillRect/>
          </a:stretch>
        </p:blipFill>
        <p:spPr>
          <a:xfrm>
            <a:off x="320040" y="4504879"/>
            <a:ext cx="3995928" cy="1388240"/>
          </a:xfrm>
          <a:prstGeom prst="rect">
            <a:avLst/>
          </a:prstGeom>
        </p:spPr>
      </p:pic>
      <p:sp>
        <p:nvSpPr>
          <p:cNvPr id="3" name="İçerik Yer Tutucusu 2">
            <a:extLst>
              <a:ext uri="{FF2B5EF4-FFF2-40B4-BE49-F238E27FC236}">
                <a16:creationId xmlns:a16="http://schemas.microsoft.com/office/drawing/2014/main" id="{64867DBB-276F-7824-C885-3228626071B5}"/>
              </a:ext>
            </a:extLst>
          </p:cNvPr>
          <p:cNvSpPr>
            <a:spLocks noGrp="1"/>
          </p:cNvSpPr>
          <p:nvPr>
            <p:ph idx="1"/>
          </p:nvPr>
        </p:nvSpPr>
        <p:spPr>
          <a:xfrm>
            <a:off x="4797494" y="2706624"/>
            <a:ext cx="6755626" cy="3483864"/>
          </a:xfrm>
        </p:spPr>
        <p:txBody>
          <a:bodyPr vert="horz" lIns="91440" tIns="45720" rIns="91440" bIns="45720" rtlCol="0">
            <a:normAutofit/>
          </a:bodyPr>
          <a:lstStyle/>
          <a:p>
            <a:r>
              <a:rPr lang="tr-TR" sz="2200">
                <a:latin typeface="Angsana New"/>
                <a:ea typeface="+mn-lt"/>
                <a:cs typeface="+mn-lt"/>
              </a:rPr>
              <a:t>Teqvoly sahasının resmi müsabaka ölçüleri, en az 12 metre genişliğinde, en az 16 metre  uzunluğunda ve en az 7 metre yüksekliğinde olmalıdır. Saha dikdörtgen şeklinde olmalı ve en az 500 mm ve en fazla 1.500 mm  yüksekliğinde çevre çizgileriyle işaretlenmelidir. Teq masası sahanın tam ortasında yer almalı ve file, kısa kenarların çevrelerine paralel olmalıdır.</a:t>
            </a:r>
            <a:endParaRPr lang="tr-TR" sz="2200">
              <a:latin typeface="Aptos" panose="020B0004020202020204"/>
            </a:endParaRPr>
          </a:p>
        </p:txBody>
      </p:sp>
    </p:spTree>
    <p:extLst>
      <p:ext uri="{BB962C8B-B14F-4D97-AF65-F5344CB8AC3E}">
        <p14:creationId xmlns:p14="http://schemas.microsoft.com/office/powerpoint/2010/main" val="26660718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Arc 23">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31485030-28A4-AE31-5A74-55477C7110EF}"/>
              </a:ext>
            </a:extLst>
          </p:cNvPr>
          <p:cNvSpPr>
            <a:spLocks noGrp="1"/>
          </p:cNvSpPr>
          <p:nvPr>
            <p:ph type="title"/>
          </p:nvPr>
        </p:nvSpPr>
        <p:spPr>
          <a:xfrm>
            <a:off x="5894962" y="479493"/>
            <a:ext cx="5458838" cy="1325563"/>
          </a:xfrm>
        </p:spPr>
        <p:txBody>
          <a:bodyPr>
            <a:normAutofit/>
          </a:bodyPr>
          <a:lstStyle/>
          <a:p>
            <a:r>
              <a:rPr lang="tr-TR">
                <a:latin typeface="Angsana New"/>
                <a:cs typeface="Angsana New"/>
              </a:rPr>
              <a:t>Teqvoly Topu</a:t>
            </a:r>
          </a:p>
        </p:txBody>
      </p:sp>
      <p:sp>
        <p:nvSpPr>
          <p:cNvPr id="26" name="Freeform: Shape 25">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Resim 3" descr="top, yer, futbol, spor ekipmanı içeren bir resim&#10;&#10;Yapay zeka tarafından oluşturulmuş içerik yanlış olabilir.">
            <a:extLst>
              <a:ext uri="{FF2B5EF4-FFF2-40B4-BE49-F238E27FC236}">
                <a16:creationId xmlns:a16="http://schemas.microsoft.com/office/drawing/2014/main" id="{C7A254CC-8A97-233E-2CDA-1EB84D47A66B}"/>
              </a:ext>
            </a:extLst>
          </p:cNvPr>
          <p:cNvPicPr>
            <a:picLocks noChangeAspect="1"/>
          </p:cNvPicPr>
          <p:nvPr/>
        </p:nvPicPr>
        <p:blipFill>
          <a:blip r:embed="rId2"/>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İçerik Yer Tutucusu 2">
            <a:extLst>
              <a:ext uri="{FF2B5EF4-FFF2-40B4-BE49-F238E27FC236}">
                <a16:creationId xmlns:a16="http://schemas.microsoft.com/office/drawing/2014/main" id="{36923C85-79B3-0784-9FDD-9515C431564F}"/>
              </a:ext>
            </a:extLst>
          </p:cNvPr>
          <p:cNvSpPr>
            <a:spLocks noGrp="1"/>
          </p:cNvSpPr>
          <p:nvPr>
            <p:ph idx="1"/>
          </p:nvPr>
        </p:nvSpPr>
        <p:spPr>
          <a:xfrm>
            <a:off x="5894962" y="1984443"/>
            <a:ext cx="5458838" cy="4192520"/>
          </a:xfrm>
        </p:spPr>
        <p:txBody>
          <a:bodyPr vert="horz" lIns="91440" tIns="45720" rIns="91440" bIns="45720" rtlCol="0">
            <a:normAutofit/>
          </a:bodyPr>
          <a:lstStyle/>
          <a:p>
            <a:pPr marL="457200" indent="-457200"/>
            <a:r>
              <a:rPr lang="tr-TR">
                <a:ea typeface="+mn-lt"/>
                <a:cs typeface="+mn-lt"/>
              </a:rPr>
              <a:t>Top küreseldir ve deri veya başka uygun bir malzemeden yapılmış olmalı ve bütil valfli lateks bir iç lastiğe sahip olmalıdır. Top, normal bir 5 numara </a:t>
            </a:r>
            <a:r>
              <a:rPr lang="tr-TR">
                <a:ea typeface="+mn-lt"/>
                <a:cs typeface="+mn-lt"/>
                <a:hlinkClick r:id="rId3"/>
              </a:rPr>
              <a:t>futbol</a:t>
            </a:r>
            <a:r>
              <a:rPr lang="tr-TR">
                <a:ea typeface="+mn-lt"/>
                <a:cs typeface="+mn-lt"/>
              </a:rPr>
              <a:t> topudur , ancak futbol için olduğundan daha düşük bir basınçta [0,3 ile 0,5 atm arasında] tutulur.</a:t>
            </a:r>
            <a:endParaRPr lang="tr-TR"/>
          </a:p>
          <a:p>
            <a:endParaRPr lang="tr-TR"/>
          </a:p>
        </p:txBody>
      </p:sp>
    </p:spTree>
    <p:extLst>
      <p:ext uri="{BB962C8B-B14F-4D97-AF65-F5344CB8AC3E}">
        <p14:creationId xmlns:p14="http://schemas.microsoft.com/office/powerpoint/2010/main" val="1411593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E3CCA5D-B7AC-FD13-B4CC-FAD56CE2F269}"/>
              </a:ext>
            </a:extLst>
          </p:cNvPr>
          <p:cNvSpPr>
            <a:spLocks noGrp="1"/>
          </p:cNvSpPr>
          <p:nvPr>
            <p:ph type="title"/>
          </p:nvPr>
        </p:nvSpPr>
        <p:spPr>
          <a:xfrm>
            <a:off x="6094105" y="802955"/>
            <a:ext cx="4977976" cy="1454051"/>
          </a:xfrm>
        </p:spPr>
        <p:txBody>
          <a:bodyPr>
            <a:normAutofit/>
          </a:bodyPr>
          <a:lstStyle/>
          <a:p>
            <a:r>
              <a:rPr lang="tr-TR" sz="3600">
                <a:solidFill>
                  <a:schemeClr val="tx2"/>
                </a:solidFill>
                <a:latin typeface="Angsana New"/>
                <a:cs typeface="Angsana New"/>
              </a:rPr>
              <a:t>Teqvoly Dünya Şampiyonası</a:t>
            </a:r>
          </a:p>
        </p:txBody>
      </p:sp>
      <p:pic>
        <p:nvPicPr>
          <p:cNvPr id="7" name="Graphic 6" descr="Madalya">
            <a:extLst>
              <a:ext uri="{FF2B5EF4-FFF2-40B4-BE49-F238E27FC236}">
                <a16:creationId xmlns:a16="http://schemas.microsoft.com/office/drawing/2014/main" id="{1A73693C-434C-83B7-BC9B-E2CFC72AD3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İçerik Yer Tutucusu 2">
            <a:extLst>
              <a:ext uri="{FF2B5EF4-FFF2-40B4-BE49-F238E27FC236}">
                <a16:creationId xmlns:a16="http://schemas.microsoft.com/office/drawing/2014/main" id="{07326D38-B8E0-D1A2-3CD4-668295999F31}"/>
              </a:ext>
            </a:extLst>
          </p:cNvPr>
          <p:cNvSpPr>
            <a:spLocks noGrp="1"/>
          </p:cNvSpPr>
          <p:nvPr>
            <p:ph idx="1"/>
          </p:nvPr>
        </p:nvSpPr>
        <p:spPr>
          <a:xfrm>
            <a:off x="6090574" y="2421682"/>
            <a:ext cx="4977578" cy="3639289"/>
          </a:xfrm>
        </p:spPr>
        <p:txBody>
          <a:bodyPr vert="horz" lIns="91440" tIns="45720" rIns="91440" bIns="45720" rtlCol="0" anchor="ctr">
            <a:normAutofit/>
          </a:bodyPr>
          <a:lstStyle/>
          <a:p>
            <a:pPr marL="285750" indent="-285750">
              <a:buFont typeface="Arial,Sans-Serif" panose="020B0604020202020204" pitchFamily="34" charset="0"/>
            </a:pPr>
            <a:endParaRPr lang="tr-TR" sz="1400">
              <a:solidFill>
                <a:schemeClr val="tx2"/>
              </a:solidFill>
            </a:endParaRPr>
          </a:p>
          <a:p>
            <a:pPr marL="285750" indent="-285750">
              <a:buFont typeface="Arial,Sans-Serif" panose="020B0604020202020204" pitchFamily="34" charset="0"/>
            </a:pPr>
            <a:r>
              <a:rPr lang="tr-TR" sz="1400" dirty="0" err="1">
                <a:solidFill>
                  <a:schemeClr val="tx2"/>
                </a:solidFill>
                <a:latin typeface="Angsana New"/>
                <a:cs typeface="Angsana New"/>
              </a:rPr>
              <a:t>Teqvoly</a:t>
            </a:r>
            <a:r>
              <a:rPr lang="tr-TR" sz="1400" dirty="0">
                <a:solidFill>
                  <a:schemeClr val="tx2"/>
                </a:solidFill>
                <a:latin typeface="Angsana New"/>
                <a:cs typeface="Angsana New"/>
              </a:rPr>
              <a:t> </a:t>
            </a:r>
            <a:r>
              <a:rPr lang="tr-TR" sz="1400" dirty="0">
                <a:solidFill>
                  <a:schemeClr val="tx2"/>
                </a:solidFill>
                <a:latin typeface="Angsana New"/>
                <a:cs typeface="Angsana New"/>
                <a:hlinkClick r:id="rId4"/>
              </a:rPr>
              <a:t>Dünya Şampiyonası</a:t>
            </a:r>
            <a:r>
              <a:rPr lang="tr-TR" sz="1400" dirty="0">
                <a:solidFill>
                  <a:schemeClr val="tx2"/>
                </a:solidFill>
                <a:latin typeface="Angsana New"/>
                <a:cs typeface="Angsana New"/>
              </a:rPr>
              <a:t> , 2017'den beri FITEQ tarafından düzenlenen yıllık bir yarışmadır.</a:t>
            </a:r>
          </a:p>
          <a:p>
            <a:pPr marL="285750" indent="-285750">
              <a:buFont typeface="Arial,Sans-Serif" panose="020B0604020202020204" pitchFamily="34" charset="0"/>
            </a:pPr>
            <a:r>
              <a:rPr lang="tr-TR" sz="1400" dirty="0" err="1">
                <a:solidFill>
                  <a:schemeClr val="tx2"/>
                </a:solidFill>
                <a:latin typeface="Angsana New"/>
                <a:cs typeface="Angsana New"/>
              </a:rPr>
              <a:t>Teqvoly</a:t>
            </a:r>
            <a:r>
              <a:rPr lang="tr-TR" sz="1400" dirty="0">
                <a:solidFill>
                  <a:schemeClr val="tx2"/>
                </a:solidFill>
                <a:latin typeface="Angsana New"/>
                <a:cs typeface="Angsana New"/>
              </a:rPr>
              <a:t> Dünya Şampiyonası'nda hem Tekler hem de Çiftler müsabakaları ve ayrıca Karışık Çiftler müsabakaları bulunmaktadır. İlk </a:t>
            </a:r>
            <a:r>
              <a:rPr lang="tr-TR" sz="1400" dirty="0" err="1">
                <a:solidFill>
                  <a:schemeClr val="tx2"/>
                </a:solidFill>
                <a:latin typeface="Angsana New"/>
                <a:cs typeface="Angsana New"/>
              </a:rPr>
              <a:t>Teqvoly</a:t>
            </a:r>
            <a:r>
              <a:rPr lang="tr-TR" sz="1400" dirty="0">
                <a:solidFill>
                  <a:schemeClr val="tx2"/>
                </a:solidFill>
                <a:latin typeface="Angsana New"/>
                <a:cs typeface="Angsana New"/>
              </a:rPr>
              <a:t>  Dünya Şampiyonası, 2017 yılında Macaristan'ın </a:t>
            </a:r>
            <a:r>
              <a:rPr lang="tr-TR" sz="1400" dirty="0">
                <a:solidFill>
                  <a:schemeClr val="tx2"/>
                </a:solidFill>
                <a:latin typeface="Angsana New"/>
                <a:cs typeface="Angsana New"/>
                <a:hlinkClick r:id="rId5"/>
              </a:rPr>
              <a:t>Budapeşte</a:t>
            </a:r>
            <a:r>
              <a:rPr lang="tr-TR" sz="1400" dirty="0">
                <a:solidFill>
                  <a:schemeClr val="tx2"/>
                </a:solidFill>
                <a:latin typeface="Angsana New"/>
                <a:cs typeface="Angsana New"/>
              </a:rPr>
              <a:t> şehrinde 20'den fazla katılımcı ülkeyle düzenlenmiştir. Etkinliğin 2018 versiyonu ise 12-13 Ekim tarihlerinde Fransa'nın </a:t>
            </a:r>
            <a:r>
              <a:rPr lang="tr-TR" sz="1400" dirty="0">
                <a:solidFill>
                  <a:schemeClr val="tx2"/>
                </a:solidFill>
                <a:latin typeface="Angsana New"/>
                <a:cs typeface="Angsana New"/>
                <a:hlinkClick r:id="rId6"/>
              </a:rPr>
              <a:t>Reims</a:t>
            </a:r>
            <a:r>
              <a:rPr lang="tr-TR" sz="1400" dirty="0">
                <a:solidFill>
                  <a:schemeClr val="tx2"/>
                </a:solidFill>
                <a:latin typeface="Angsana New"/>
                <a:cs typeface="Angsana New"/>
              </a:rPr>
              <a:t> şehrinde toplam 90 oyuncunun katılımıyla gerçekleştirilmiştir. </a:t>
            </a:r>
            <a:r>
              <a:rPr lang="tr-TR" sz="1400" baseline="30000" dirty="0">
                <a:solidFill>
                  <a:schemeClr val="tx2"/>
                </a:solidFill>
                <a:latin typeface="Angsana New"/>
                <a:cs typeface="Angsana New"/>
                <a:hlinkClick r:id="rId7"/>
              </a:rPr>
              <a:t>[ 15 ]</a:t>
            </a:r>
            <a:endParaRPr lang="tr-TR" sz="1400" dirty="0">
              <a:solidFill>
                <a:schemeClr val="tx2"/>
              </a:solidFill>
              <a:latin typeface="Angsana New"/>
              <a:cs typeface="Angsana New"/>
            </a:endParaRPr>
          </a:p>
          <a:p>
            <a:pPr marL="285750" indent="-285750">
              <a:buFont typeface="Arial,Sans-Serif" panose="020B0604020202020204" pitchFamily="34" charset="0"/>
            </a:pPr>
            <a:r>
              <a:rPr lang="tr-TR" sz="1400" dirty="0">
                <a:solidFill>
                  <a:schemeClr val="tx2"/>
                </a:solidFill>
                <a:latin typeface="Angsana New"/>
                <a:cs typeface="Angsana New"/>
              </a:rPr>
              <a:t>2019 </a:t>
            </a:r>
            <a:r>
              <a:rPr lang="tr-TR" sz="1400" dirty="0">
                <a:solidFill>
                  <a:schemeClr val="tx2"/>
                </a:solidFill>
                <a:latin typeface="Angsana New"/>
                <a:cs typeface="Angsana New"/>
                <a:hlinkClick r:id="rId8"/>
              </a:rPr>
              <a:t>T</a:t>
            </a:r>
            <a:r>
              <a:rPr lang="tr-TR" sz="1400" dirty="0" err="1">
                <a:solidFill>
                  <a:schemeClr val="tx2"/>
                </a:solidFill>
                <a:latin typeface="Angsana New"/>
                <a:cs typeface="Angsana New"/>
              </a:rPr>
              <a:t>eqvoly</a:t>
            </a:r>
            <a:r>
              <a:rPr lang="tr-TR" sz="1400" dirty="0">
                <a:solidFill>
                  <a:schemeClr val="tx2"/>
                </a:solidFill>
                <a:latin typeface="Angsana New"/>
                <a:cs typeface="Angsana New"/>
              </a:rPr>
              <a:t> </a:t>
            </a:r>
            <a:r>
              <a:rPr lang="tr-TR" sz="1400" dirty="0">
                <a:solidFill>
                  <a:schemeClr val="tx2"/>
                </a:solidFill>
                <a:latin typeface="Angsana New"/>
                <a:cs typeface="Angsana New"/>
                <a:hlinkClick r:id="rId8"/>
              </a:rPr>
              <a:t>Dünya Şampiyonası</a:t>
            </a:r>
            <a:r>
              <a:rPr lang="tr-TR" sz="1400" dirty="0">
                <a:solidFill>
                  <a:schemeClr val="tx2"/>
                </a:solidFill>
                <a:latin typeface="Angsana New"/>
                <a:cs typeface="Angsana New"/>
              </a:rPr>
              <a:t> 6-8 Aralık tarihleri arasında Budapeşte'de gerçekleşti. </a:t>
            </a:r>
            <a:r>
              <a:rPr lang="tr-TR" sz="1400" baseline="30000" dirty="0">
                <a:solidFill>
                  <a:schemeClr val="tx2"/>
                </a:solidFill>
                <a:latin typeface="Angsana New"/>
                <a:cs typeface="Angsana New"/>
                <a:hlinkClick r:id="rId9"/>
              </a:rPr>
              <a:t>[ 16 ]</a:t>
            </a:r>
            <a:r>
              <a:rPr lang="tr-TR" sz="1400" dirty="0">
                <a:solidFill>
                  <a:schemeClr val="tx2"/>
                </a:solidFill>
                <a:latin typeface="Angsana New"/>
                <a:cs typeface="Angsana New"/>
              </a:rPr>
              <a:t> 58 ülkeyi temsil eden yaklaşık 160 sporcu tekler, çiftler ve karışık çiftler müsabakalarında yarıştı. </a:t>
            </a:r>
            <a:r>
              <a:rPr lang="tr-TR" sz="1400" baseline="30000" dirty="0">
                <a:solidFill>
                  <a:schemeClr val="tx2"/>
                </a:solidFill>
                <a:latin typeface="Angsana New"/>
                <a:cs typeface="Angsana New"/>
                <a:hlinkClick r:id="rId10"/>
              </a:rPr>
              <a:t>[ 17 ]</a:t>
            </a:r>
            <a:endParaRPr lang="tr-TR" sz="1400" dirty="0">
              <a:solidFill>
                <a:schemeClr val="tx2"/>
              </a:solidFill>
              <a:latin typeface="Angsana New"/>
              <a:cs typeface="Angsana New"/>
            </a:endParaRPr>
          </a:p>
          <a:p>
            <a:pPr marL="285750" indent="-285750">
              <a:buFont typeface="Arial,Sans-Serif" panose="020B0604020202020204" pitchFamily="34" charset="0"/>
            </a:pPr>
            <a:r>
              <a:rPr lang="tr-TR" sz="1400" dirty="0">
                <a:solidFill>
                  <a:schemeClr val="tx2"/>
                </a:solidFill>
                <a:latin typeface="Angsana New"/>
                <a:cs typeface="Angsana New"/>
                <a:hlinkClick r:id="rId11"/>
              </a:rPr>
              <a:t>FITEQ, COVID-19 pandemisiyle</a:t>
            </a:r>
            <a:r>
              <a:rPr lang="tr-TR" sz="1400" dirty="0">
                <a:solidFill>
                  <a:schemeClr val="tx2"/>
                </a:solidFill>
                <a:latin typeface="Angsana New"/>
                <a:cs typeface="Angsana New"/>
              </a:rPr>
              <a:t> ilgili devam eden belirsizlik ve kısıtlamalar nedeniyle 2020 </a:t>
            </a:r>
            <a:r>
              <a:rPr lang="tr-TR" sz="1400" err="1">
                <a:solidFill>
                  <a:schemeClr val="tx2"/>
                </a:solidFill>
                <a:latin typeface="Angsana New"/>
                <a:cs typeface="Angsana New"/>
              </a:rPr>
              <a:t>Teqvoly</a:t>
            </a:r>
            <a:r>
              <a:rPr lang="tr-TR" sz="1400" dirty="0">
                <a:solidFill>
                  <a:schemeClr val="tx2"/>
                </a:solidFill>
                <a:latin typeface="Angsana New"/>
                <a:cs typeface="Angsana New"/>
              </a:rPr>
              <a:t>  Dünya Şampiyonası'nı erteleme kararı aldı . </a:t>
            </a:r>
            <a:r>
              <a:rPr lang="tr-TR" sz="1400" baseline="30000" dirty="0">
                <a:solidFill>
                  <a:schemeClr val="tx2"/>
                </a:solidFill>
                <a:latin typeface="Angsana New"/>
                <a:cs typeface="Angsana New"/>
                <a:hlinkClick r:id="rId12"/>
              </a:rPr>
              <a:t>[ 18 ]</a:t>
            </a:r>
            <a:endParaRPr lang="tr-TR" sz="1400" dirty="0">
              <a:solidFill>
                <a:schemeClr val="tx2"/>
              </a:solidFill>
              <a:latin typeface="Angsana New"/>
              <a:cs typeface="Angsana New"/>
            </a:endParaRPr>
          </a:p>
          <a:p>
            <a:pPr marL="285750" indent="-285750">
              <a:buFont typeface="Arial,Sans-Serif" panose="020B0604020202020204" pitchFamily="34" charset="0"/>
            </a:pPr>
            <a:r>
              <a:rPr lang="tr-TR" sz="1400" dirty="0">
                <a:solidFill>
                  <a:schemeClr val="tx2"/>
                </a:solidFill>
                <a:latin typeface="Angsana New"/>
                <a:cs typeface="Angsana New"/>
              </a:rPr>
              <a:t>2023 </a:t>
            </a:r>
            <a:r>
              <a:rPr lang="tr-TR" sz="1400" dirty="0" err="1">
                <a:solidFill>
                  <a:schemeClr val="tx2"/>
                </a:solidFill>
                <a:latin typeface="Angsana New"/>
                <a:cs typeface="Angsana New"/>
              </a:rPr>
              <a:t>Teqvoly</a:t>
            </a:r>
            <a:r>
              <a:rPr lang="tr-TR" sz="1400" dirty="0">
                <a:solidFill>
                  <a:schemeClr val="tx2"/>
                </a:solidFill>
                <a:latin typeface="Angsana New"/>
                <a:cs typeface="Angsana New"/>
              </a:rPr>
              <a:t>  Dünya Şampiyonası ilk kez Avrupa dışında, </a:t>
            </a:r>
            <a:r>
              <a:rPr lang="tr-TR" sz="1400" dirty="0">
                <a:solidFill>
                  <a:schemeClr val="tx2"/>
                </a:solidFill>
                <a:latin typeface="Angsana New"/>
                <a:cs typeface="Angsana New"/>
                <a:hlinkClick r:id="rId13"/>
              </a:rPr>
              <a:t>Tayland'ın Bangkok</a:t>
            </a:r>
            <a:r>
              <a:rPr lang="tr-TR" sz="1400" dirty="0">
                <a:solidFill>
                  <a:schemeClr val="tx2"/>
                </a:solidFill>
                <a:latin typeface="Angsana New"/>
                <a:cs typeface="Angsana New"/>
              </a:rPr>
              <a:t> şehrinde düzenlendi . </a:t>
            </a:r>
            <a:endParaRPr lang="tr-TR" sz="14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70750408"/>
      </p:ext>
    </p:extLst>
  </p:cSld>
  <p:clrMapOvr>
    <a:masterClrMapping/>
  </p:clrMapOvr>
</p:sld>
</file>

<file path=ppt/theme/theme1.xml><?xml version="1.0" encoding="utf-8"?>
<a:theme xmlns:a="http://schemas.openxmlformats.org/drawingml/2006/main" name="Ofis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is">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Geniş ekran</PresentationFormat>
  <Paragraphs>0</Paragraphs>
  <Slides>5</Slides>
  <Notes>0</Notes>
  <HiddenSlides>0</HiddenSlides>
  <MMClips>0</MMClips>
  <ScaleCrop>false</ScaleCrop>
  <HeadingPairs>
    <vt:vector size="4" baseType="variant">
      <vt:variant>
        <vt:lpstr>Tema</vt:lpstr>
      </vt:variant>
      <vt:variant>
        <vt:i4>1</vt:i4>
      </vt:variant>
      <vt:variant>
        <vt:lpstr>Slayt Başlıkları</vt:lpstr>
      </vt:variant>
      <vt:variant>
        <vt:i4>5</vt:i4>
      </vt:variant>
    </vt:vector>
  </HeadingPairs>
  <TitlesOfParts>
    <vt:vector size="6" baseType="lpstr">
      <vt:lpstr>Ofis Teması</vt:lpstr>
      <vt:lpstr>Teqvoly Tarihi</vt:lpstr>
      <vt:lpstr>Teqvoly Nedir? Nasıl Oynanır?</vt:lpstr>
      <vt:lpstr>Teqvoly Sahası</vt:lpstr>
      <vt:lpstr>Teqvoly Topu</vt:lpstr>
      <vt:lpstr>Teqvoly Dünya Şampiyonası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294</cp:revision>
  <dcterms:created xsi:type="dcterms:W3CDTF">2026-02-07T08:57:12Z</dcterms:created>
  <dcterms:modified xsi:type="dcterms:W3CDTF">2026-02-08T16:14:52Z</dcterms:modified>
</cp:coreProperties>
</file>